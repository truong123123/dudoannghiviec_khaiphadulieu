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3A5F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3A5F"/>
                </a:solidFill>
                <a:latin typeface="Cambria"/>
              </a:rPr>
              <a:t>Tỷ lệ nghỉ việc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Nhóm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F65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61B-4540-9553-703FC9F61A86}"/>
              </c:ext>
            </c:extLst>
          </c:dPt>
          <c:dPt>
            <c:idx val="1"/>
            <c:bubble3D val="0"/>
            <c:spPr>
              <a:solidFill>
                <a:srgbClr val="B869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1B-4540-9553-703FC9F61A8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61B-4540-9553-703FC9F61A8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61B-4540-9553-703FC9F61A8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Ở lại</c:v>
                </c:pt>
                <c:pt idx="1">
                  <c:v>Nghỉ việc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1233</c:v>
                </c:pt>
                <c:pt idx="1">
                  <c:v>237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1B-4540-9553-703FC9F61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Cambria"/>
              </a:rPr>
              <a:t>Tỷ lệ nghỉ việc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nghỉ việc (%)</c:v>
                </c:pt>
              </c:strCache>
            </c:strRef>
          </c:tx>
          <c:spPr>
            <a:solidFill>
              <a:srgbClr val="3F65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ED5-4D1C-BA01-63A6162459D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ED5-4D1C-BA01-63A6162459D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ED5-4D1C-BA01-63A6162459D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ED5-4D1C-BA01-63A6162459D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ED5-4D1C-BA01-63A6162459DB}"/>
              </c:ext>
            </c:extLst>
          </c:dPt>
          <c:dPt>
            <c:idx val="5"/>
            <c:invertIfNegative val="0"/>
            <c:bubble3D val="0"/>
            <c:spPr>
              <a:solidFill>
                <a:srgbClr val="B869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ED5-4D1C-BA01-63A6162459DB}"/>
              </c:ext>
            </c:extLst>
          </c:dPt>
          <c:dPt>
            <c:idx val="6"/>
            <c:invertIfNegative val="0"/>
            <c:bubble3D val="0"/>
            <c:spPr>
              <a:solidFill>
                <a:srgbClr val="B869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ED5-4D1C-BA01-63A6162459DB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Mức chung</c:v>
                </c:pt>
                <c:pt idx="1">
                  <c:v>Không có cổ phiếu</c:v>
                </c:pt>
                <c:pt idx="2">
                  <c:v>Công tác thường xuyên</c:v>
                </c:pt>
                <c:pt idx="3">
                  <c:v>Độc thân</c:v>
                </c:pt>
                <c:pt idx="4">
                  <c:v>Cấp bậc 1</c:v>
                </c:pt>
                <c:pt idx="5">
                  <c:v>Làm thêm giờ</c:v>
                </c:pt>
                <c:pt idx="6">
                  <c:v>Sales Representative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16.100000000000001</c:v>
                </c:pt>
                <c:pt idx="1">
                  <c:v>24.4</c:v>
                </c:pt>
                <c:pt idx="2">
                  <c:v>24.9</c:v>
                </c:pt>
                <c:pt idx="3">
                  <c:v>25.5</c:v>
                </c:pt>
                <c:pt idx="4">
                  <c:v>26.3</c:v>
                </c:pt>
                <c:pt idx="5">
                  <c:v>30.5</c:v>
                </c:pt>
                <c:pt idx="6">
                  <c:v>39.799999999999997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ED5-4D1C-BA01-63A6162459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Cambria"/>
              </a:rPr>
              <a:t>ROC-AUC theo nhóm biến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 (CV)</c:v>
                </c:pt>
              </c:strCache>
            </c:strRef>
          </c:tx>
          <c:spPr>
            <a:solidFill>
              <a:srgbClr val="B8694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C45-474D-800D-04E39D254416}"/>
              </c:ext>
            </c:extLst>
          </c:dPt>
          <c:dPt>
            <c:idx val="1"/>
            <c:invertIfNegative val="0"/>
            <c:bubble3D val="0"/>
            <c:spPr>
              <a:solidFill>
                <a:srgbClr val="4F8A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C45-474D-800D-04E39D254416}"/>
              </c:ext>
            </c:extLst>
          </c:dPt>
          <c:dPt>
            <c:idx val="2"/>
            <c:invertIfNegative val="0"/>
            <c:bubble3D val="0"/>
            <c:spPr>
              <a:solidFill>
                <a:srgbClr val="3F65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C45-474D-800D-04E39D254416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Chỉ gián tiếp</c:v>
                </c:pt>
                <c:pt idx="1">
                  <c:v>Chỉ trực tiếp</c:v>
                </c:pt>
                <c:pt idx="2">
                  <c:v>Cả hai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0.70099999999999996</c:v>
                </c:pt>
                <c:pt idx="1">
                  <c:v>0.78</c:v>
                </c:pt>
                <c:pt idx="2">
                  <c:v>0.80600000000000005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C45-474D-800D-04E39D2544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Cambria"/>
              </a:rPr>
              <a:t>Odds ratio đa biến (1,0 = không đổi)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Odds ratio</c:v>
                </c:pt>
              </c:strCache>
            </c:strRef>
          </c:tx>
          <c:spPr>
            <a:solidFill>
              <a:srgbClr val="4F8A8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DE7-4EB2-AE3D-FDB2E970F29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DE7-4EB2-AE3D-FDB2E970F29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DE7-4EB2-AE3D-FDB2E970F299}"/>
              </c:ext>
            </c:extLst>
          </c:dPt>
          <c:dPt>
            <c:idx val="3"/>
            <c:invertIfNegative val="0"/>
            <c:bubble3D val="0"/>
            <c:spPr>
              <a:solidFill>
                <a:srgbClr val="B869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DE7-4EB2-AE3D-FDB2E970F299}"/>
              </c:ext>
            </c:extLst>
          </c:dPt>
          <c:dPt>
            <c:idx val="4"/>
            <c:invertIfNegative val="0"/>
            <c:bubble3D val="0"/>
            <c:spPr>
              <a:solidFill>
                <a:srgbClr val="B869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DE7-4EB2-AE3D-FDB2E970F29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Cổ phiếu (mỗi mức)</c:v>
                </c:pt>
                <c:pt idx="1">
                  <c:v>Hài lòng môi trường</c:v>
                </c:pt>
                <c:pt idx="2">
                  <c:v>Hài lòng công việc</c:v>
                </c:pt>
                <c:pt idx="3">
                  <c:v>Công tác thường xuyên</c:v>
                </c:pt>
                <c:pt idx="4">
                  <c:v>Làm thêm giờ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0.59</c:v>
                </c:pt>
                <c:pt idx="1">
                  <c:v>0.7</c:v>
                </c:pt>
                <c:pt idx="2">
                  <c:v>0.72</c:v>
                </c:pt>
                <c:pt idx="3">
                  <c:v>3.66</c:v>
                </c:pt>
                <c:pt idx="4">
                  <c:v>4.68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DE7-4EB2-AE3D-FDB2E970F2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Cambria"/>
              </a:rPr>
              <a:t>ROC-AUC (Nested CV, 5 fold)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3F65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44E-43D8-8AD7-FCD5AD40B66D}"/>
              </c:ext>
            </c:extLst>
          </c:dPt>
          <c:dPt>
            <c:idx val="1"/>
            <c:invertIfNegative val="0"/>
            <c:bubble3D val="0"/>
            <c:spPr>
              <a:solidFill>
                <a:srgbClr val="9FB3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44E-43D8-8AD7-FCD5AD40B66D}"/>
              </c:ext>
            </c:extLst>
          </c:dPt>
          <c:dPt>
            <c:idx val="2"/>
            <c:invertIfNegative val="0"/>
            <c:bubble3D val="0"/>
            <c:spPr>
              <a:solidFill>
                <a:srgbClr val="9FB3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44E-43D8-8AD7-FCD5AD40B66D}"/>
              </c:ext>
            </c:extLst>
          </c:dPt>
          <c:dPt>
            <c:idx val="3"/>
            <c:invertIfNegative val="0"/>
            <c:bubble3D val="0"/>
            <c:spPr>
              <a:solidFill>
                <a:srgbClr val="9FB3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44E-43D8-8AD7-FCD5AD40B66D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LightGBM (tuning)</c:v>
                </c:pt>
                <c:pt idx="2">
                  <c:v>XGBoost (tuning)</c:v>
                </c:pt>
                <c:pt idx="3">
                  <c:v>Random Forest (tuning)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0.82599999999999996</c:v>
                </c:pt>
                <c:pt idx="1">
                  <c:v>0.82299999999999995</c:v>
                </c:pt>
                <c:pt idx="2">
                  <c:v>0.82099999999999995</c:v>
                </c:pt>
                <c:pt idx="3">
                  <c:v>0.80600000000000005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44E-43D8-8AD7-FCD5AD40B6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7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Cambria"/>
              </a:rPr>
              <a:t>ROC-AUC và Recall trên tập test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3F659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0.80400000000000005</c:v>
                </c:pt>
                <c:pt idx="1">
                  <c:v>0.68600000000000005</c:v>
                </c:pt>
                <c:pt idx="2">
                  <c:v>0.78100000000000003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B7-4852-927B-4C02417041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(ngưỡng 0,5)</c:v>
                </c:pt>
              </c:strCache>
            </c:strRef>
          </c:tx>
          <c:spPr>
            <a:solidFill>
              <a:srgbClr val="B8694D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0.66</c:v>
                </c:pt>
                <c:pt idx="1">
                  <c:v>0.53200000000000003</c:v>
                </c:pt>
                <c:pt idx="2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B7-4852-927B-4C02417041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Cambria"/>
              </a:rPr>
              <a:t>294 nhân viên tập test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Mức rủi ro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8A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390-47E4-8AEF-586FC5F18AB1}"/>
              </c:ext>
            </c:extLst>
          </c:dPt>
          <c:dPt>
            <c:idx val="1"/>
            <c:bubble3D val="0"/>
            <c:spPr>
              <a:solidFill>
                <a:srgbClr val="C9A4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390-47E4-8AEF-586FC5F18AB1}"/>
              </c:ext>
            </c:extLst>
          </c:dPt>
          <c:dPt>
            <c:idx val="2"/>
            <c:bubble3D val="0"/>
            <c:spPr>
              <a:solidFill>
                <a:srgbClr val="B869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390-47E4-8AEF-586FC5F18AB1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390-47E4-8AEF-586FC5F18AB1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390-47E4-8AEF-586FC5F18AB1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390-47E4-8AEF-586FC5F18AB1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Ổn định</c:v>
                </c:pt>
                <c:pt idx="1">
                  <c:v>Theo dõi</c:v>
                </c:pt>
                <c:pt idx="2">
                  <c:v>Cao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186</c:v>
                </c:pt>
                <c:pt idx="1">
                  <c:v>49</c:v>
                </c:pt>
                <c:pt idx="2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390-47E4-8AEF-586FC5F18A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9013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thầy/cô. Đề tài của nhóm là dự đoán nhân viên nghỉ việc trên bộ dữ liệu IBM HR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dữ liệu mất cân bằng và dữ liệu là mô phỏng.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nhanh các bước xử lý. Nhấn mạnh chuẩn hóa chỉ fit trên tập train nên không rò rỉ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Làm thêm giờ, vai trò Sales Representative và cấp bậc thấp là các nhóm nổi bật. Đây là liên hệ thống kê, chưa phải nhân quả.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Biến trực tiếp dự đoán tốt hơn hẳn biến gián tiếp. Làm thêm giờ, công tác và mức hài lòng gần như độc lập với tuổi và hôn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liệu là odds ratio đa biến từ hồi quy Logistic.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Chống rò rỉ dữ liệu: chia train/test trước, chuẩn hóa trong Pipeline. Nested CV cho điểm số không bị lạc quan. Decision Tree yếu nhất, AUC khoảng 0,69.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Trên tập test, Logistic Regression có Recall cao nhất. Random Forest Recall thấp ở ngưỡng 0,5 và không ổn định giữa các môi trường chạy, nên so sánh bằng ROC-AUC.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Ngưỡng 0,6 được kiểm tra lại bằng dự đoán out-of-fold trên tập train: Precision 0,46, Recall 0,67. Xác suất bị đẩy cao do dùng class_weight 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thúc, mời thầy/cô đặt câu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nhân viên nghỉ việc  ·  Khai phá dữ liệu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64008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3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PHÁ DỮ LIỆU  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 đoán nhân viên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nghỉ việc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29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Nhật Trường – 2351067118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Minh Thiện – 2351067116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Ths Nguyễn Thị Hạnh  ·  Lớp S26-K65CNTT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toán và dữ liệu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51560"/>
          <a:ext cx="32918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4023360" y="1097280"/>
            <a:ext cx="1371600" cy="1051560"/>
          </a:xfrm>
          <a:prstGeom prst="roundRect">
            <a:avLst>
              <a:gd name="adj" fmla="val 1217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160520" y="1188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65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1.470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4160520" y="16916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0" y="1097280"/>
            <a:ext cx="1371600" cy="1051560"/>
          </a:xfrm>
          <a:prstGeom prst="roundRect">
            <a:avLst>
              <a:gd name="adj" fmla="val 1217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623560" y="1188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65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5623560" y="16916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cột thuộc tính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949440" y="1097280"/>
            <a:ext cx="1645920" cy="1051560"/>
          </a:xfrm>
          <a:prstGeom prst="roundRect">
            <a:avLst>
              <a:gd name="adj" fmla="val 1217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086600" y="1188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86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708660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nghỉ (16,1%)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023360" y="242316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tìm yếu tố liên quan đến nghỉ việc, dự đoán rủi ro và đề xuất cách HR dùng kết quả.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mất cân bằng: luôn đoán “ở lại” đã đúng 84% nhưng không bắt được ai, nên ưu tiên Recall, ROC-AUC, PR-AUC.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mô phỏng của IBM: quy trình dùng lại được, con số cụ thể không áp dụng nguyên cho công ty khác.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Hiểu nhanh các thước đo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48640" y="1143000"/>
            <a:ext cx="1920240" cy="2286000"/>
          </a:xfrm>
          <a:prstGeom prst="roundRect">
            <a:avLst>
              <a:gd name="adj" fmla="val 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73736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năng xếp người sắp nghỉ lên trên người ở lại. 0,5 là đoán mò, 1,0 là hoàn hảo; mô hình đạt khoảng 0,83.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633472" y="1143000"/>
            <a:ext cx="1920240" cy="2286000"/>
          </a:xfrm>
          <a:prstGeom prst="roundRect">
            <a:avLst>
              <a:gd name="adj" fmla="val 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70632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770632" y="173736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số người thật sự nghỉ, mô hình bắt được bao nhiêu. Recall 0,57 nghĩa là bắt được khoảng 57 trên 100 người.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718304" y="1143000"/>
            <a:ext cx="1920240" cy="2286000"/>
          </a:xfrm>
          <a:prstGeom prst="roundRect">
            <a:avLst>
              <a:gd name="adj" fmla="val 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55464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855464" y="173736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số người bị gắn cờ rủi ro, bao nhiêu người thật sự nghỉ. Precision 0,46 nghĩa là khoảng 46 trên 100 người.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803136" y="1143000"/>
            <a:ext cx="1920240" cy="2286000"/>
          </a:xfrm>
          <a:prstGeom prst="roundRect">
            <a:avLst>
              <a:gd name="adj" fmla="val 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40296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Odds ratio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940296" y="173736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chênh khả năng nghỉ việc so với nhóm đối chiếu. 4,7 là cao gấp 4,7 lần; 0,59 là giảm còn 59%.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trình xử lý và mô hình hóa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097280" y="1143000"/>
            <a:ext cx="731520" cy="731520"/>
          </a:xfrm>
          <a:prstGeom prst="ellipse">
            <a:avLst/>
          </a:prstGeom>
          <a:solidFill>
            <a:srgbClr val="3F65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1965960" y="1371600"/>
            <a:ext cx="548640" cy="274320"/>
          </a:xfrm>
          <a:prstGeom prst="rightArrow">
            <a:avLst/>
          </a:prstGeom>
          <a:solidFill>
            <a:srgbClr val="C8D3DF"/>
          </a:solidFill>
          <a:ln w="12700">
            <a:solidFill>
              <a:srgbClr val="C8D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103120"/>
            <a:ext cx="1920240" cy="2468880"/>
          </a:xfrm>
          <a:prstGeom prst="roundRect">
            <a:avLst>
              <a:gd name="adj" fmla="val 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Làm sạch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60604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4 cột không có giá trị dự đoán (mã nhân viên, số giờ chuẩn…). Đổi “nghỉ việc” thành 0/1; one-hot còn 44 cột.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182112" y="1143000"/>
            <a:ext cx="731520" cy="731520"/>
          </a:xfrm>
          <a:prstGeom prst="ellipse">
            <a:avLst/>
          </a:prstGeom>
          <a:solidFill>
            <a:srgbClr val="B869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182112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4050792" y="1371600"/>
            <a:ext cx="548640" cy="274320"/>
          </a:xfrm>
          <a:prstGeom prst="rightArrow">
            <a:avLst/>
          </a:prstGeom>
          <a:solidFill>
            <a:srgbClr val="C8D3DF"/>
          </a:solidFill>
          <a:ln w="12700">
            <a:solidFill>
              <a:srgbClr val="C8D3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33472" y="2103120"/>
            <a:ext cx="1920240" cy="2468880"/>
          </a:xfrm>
          <a:prstGeom prst="roundRect">
            <a:avLst>
              <a:gd name="adj" fmla="val 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70632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Chia dữ liệu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770632" y="260604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80/20, giữ nguyên tỷ lệ nghỉ việc: 1.176 người để học, 294 người để kiểm tra (random_state=42).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266944" y="1143000"/>
            <a:ext cx="731520" cy="731520"/>
          </a:xfrm>
          <a:prstGeom prst="ellipse">
            <a:avLst/>
          </a:prstGeom>
          <a:solidFill>
            <a:srgbClr val="3F65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66944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6135624" y="1371600"/>
            <a:ext cx="548640" cy="274320"/>
          </a:xfrm>
          <a:prstGeom prst="rightArrow">
            <a:avLst/>
          </a:prstGeom>
          <a:solidFill>
            <a:srgbClr val="C8D3DF"/>
          </a:solidFill>
          <a:ln w="12700">
            <a:solidFill>
              <a:srgbClr val="C8D3D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18304" y="2103120"/>
            <a:ext cx="1920240" cy="2468880"/>
          </a:xfrm>
          <a:prstGeom prst="roundRect">
            <a:avLst>
              <a:gd name="adj" fmla="val 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55464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Chuẩn hóa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855464" y="260604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14 biến số về cùng thang đo. Chỉ học trên tập train để tránh rò rỉ dữ liệu.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7351776" y="1143000"/>
            <a:ext cx="731520" cy="731520"/>
          </a:xfrm>
          <a:prstGeom prst="ellipse">
            <a:avLst/>
          </a:prstGeom>
          <a:solidFill>
            <a:srgbClr val="B869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51776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Shape 23"/>
          <p:cNvSpPr/>
          <p:nvPr/>
        </p:nvSpPr>
        <p:spPr>
          <a:xfrm>
            <a:off x="6803136" y="2103120"/>
            <a:ext cx="1920240" cy="2468880"/>
          </a:xfrm>
          <a:prstGeom prst="roundRect">
            <a:avLst>
              <a:gd name="adj" fmla="val 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40296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940296" y="260604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5 mô hình: Logistic Regression, Decision Tree, Random Forest, XGBoost, LightGBM; chỉnh tham số và đánh giá bằng Nested CV.</a:t>
            </a:r>
            <a:endParaRPr lang="en-US" sz="135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Nhóm nào nghỉ việc nhiều nhất?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0584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5760720" y="1097280"/>
            <a:ext cx="2834640" cy="3383280"/>
          </a:xfrm>
          <a:prstGeom prst="roundRect">
            <a:avLst>
              <a:gd name="adj" fmla="val 451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94360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định thống kê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943600" y="164592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12/13 biến phân loại có liên hệ ý nghĩa (Chi-square, Holm); riêng giới tính thì không.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 biến số còn ý nghĩa sau Holm: thâm niên, lương, tuổi, khoảng cách nhà.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nghỉ trẻ hơn, lương trung vị thấp hơn (3.202 so với 5.204).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Yếu tố trực tiếp và gián tiếp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097280"/>
            <a:ext cx="2651760" cy="1417320"/>
          </a:xfrm>
          <a:prstGeom prst="roundRect">
            <a:avLst>
              <a:gd name="adj" fmla="val 903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2651760"/>
            <a:ext cx="2651760" cy="1417320"/>
          </a:xfrm>
          <a:prstGeom prst="roundRect">
            <a:avLst>
              <a:gd name="adj" fmla="val 903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170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8A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Trực tiếp (can thiệp được)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5727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thêm giờ, lương, cấp bậc, cổ phiếu, công tác, mức hài lòng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724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6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Gián tiếp (đặc điểm nền)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12724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Tuổi, hôn nhân, kinh nghiệm, số năm gắn bó, khoảng cách nhà</a:t>
            </a:r>
            <a:endParaRPr lang="en-US" sz="12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3383280" y="1005840"/>
          <a:ext cx="29260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9"/>
          <p:cNvSpPr/>
          <p:nvPr/>
        </p:nvSpPr>
        <p:spPr>
          <a:xfrm>
            <a:off x="6492240" y="1097280"/>
            <a:ext cx="2103120" cy="2971800"/>
          </a:xfrm>
          <a:prstGeom prst="roundRect">
            <a:avLst>
              <a:gd name="adj" fmla="val 608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629400" y="1188720"/>
            <a:ext cx="1828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DBB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30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động của tuổi đi qua lương, cấp bậc.</a:t>
            </a:r>
            <a:endParaRPr lang="en-US" sz="30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DDBB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12/63</a:t>
            </a:r>
            <a:endParaRPr lang="en-US" sz="30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cặp gián tiếp – trực tiếp có liên hệ ý nghĩa.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Yếu tố trực tiếp tác động thế nào?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0584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5486400" y="1097280"/>
            <a:ext cx="3108960" cy="3383280"/>
          </a:xfrm>
          <a:prstGeom prst="roundRect">
            <a:avLst>
              <a:gd name="adj" fmla="val 411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669280" y="128016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thêm giờ: odds nghỉ việc cao gấp 4,7 lần; công tác thường xuyên 3,7 lần.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điểm hài lòng công việc, môi trường làm giảm odds nghỉ việc khoảng 30%.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Lương và cấp bậc mất ý nghĩa khi đặt chung vì tương quan 0,95; đọc như một nhóm.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hồi quy đa biến, chưa chứng minh nhân quả.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sánh mô hình bằng Nested CV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05840"/>
          <a:ext cx="49377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5577840" y="1097280"/>
            <a:ext cx="3017520" cy="3383280"/>
          </a:xfrm>
          <a:prstGeom prst="roundRect">
            <a:avLst>
              <a:gd name="adj" fmla="val 424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71500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chọn Logistic Regression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715000" y="178308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Chênh lệch giữa các mô hình không quá 0,02, nhỏ hơn độ lệch giữa các fold (0,03–0,04).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giản, ổn định, hệ số giải thích được vì sao một người bị gắn cờ.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chỉ giúp XGBoost, LightGBM tăng khoảng 0,02 để ngang bằng.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trên tập test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0584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5669280" y="1097280"/>
            <a:ext cx="2926080" cy="3383280"/>
          </a:xfrm>
          <a:prstGeom prst="roundRect">
            <a:avLst>
              <a:gd name="adj" fmla="val 437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852160" y="128016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Accuracy 75,5%, Recall 0,660; CV AUC 0,827 ± 0,028.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Accuracy 82,7% nhưng Recall chỉ 0,170, bỏ sót phần lớn người nghỉ việc.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yếu nhất, AUC 0,686.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đoán “ở lại” đã đúng 83,9%, nên Accuracy không phải thước đo chính.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ý: 0,804 là AUC trên tập test, còn 0,826 là trung bình Nested CV. Hai cách đo khác nhau nên số khác nhau.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Ứng dụng cho bộ phận nhân sự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005840"/>
          <a:ext cx="3017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3566160" y="1097280"/>
            <a:ext cx="1554480" cy="1051560"/>
          </a:xfrm>
          <a:prstGeom prst="roundRect">
            <a:avLst>
              <a:gd name="adj" fmla="val 1217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703320" y="1188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65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3703320" y="16916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cảnh báo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212080" y="1097280"/>
            <a:ext cx="1554480" cy="1051560"/>
          </a:xfrm>
          <a:prstGeom prst="roundRect">
            <a:avLst>
              <a:gd name="adj" fmla="val 1217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349240" y="1188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86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0,46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5349240" y="16916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858000" y="1097280"/>
            <a:ext cx="1737360" cy="1051560"/>
          </a:xfrm>
          <a:prstGeom prst="roundRect">
            <a:avLst>
              <a:gd name="adj" fmla="val 1217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995160" y="1188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8A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0,57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6995160" y="1691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(tập test)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566160" y="2331720"/>
            <a:ext cx="5029200" cy="493776"/>
          </a:xfrm>
          <a:prstGeom prst="roundRect">
            <a:avLst>
              <a:gd name="adj" fmla="val 2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703320" y="233172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6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Cao ≥ 0,6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5303520" y="233172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Phỏng vấn giữ chân; rà soát lương, cấp bậc; giảm làm thêm giờ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566160" y="2898648"/>
            <a:ext cx="5029200" cy="493776"/>
          </a:xfrm>
          <a:prstGeom prst="roundRect">
            <a:avLst>
              <a:gd name="adj" fmla="val 2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703320" y="289864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7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 dõi 0,4–0,6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5303520" y="289864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mức hài lòng; trao đổi với quản lý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3566160" y="3465576"/>
            <a:ext cx="5029200" cy="493776"/>
          </a:xfrm>
          <a:prstGeom prst="roundRect">
            <a:avLst>
              <a:gd name="adj" fmla="val 2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703320" y="3465576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8A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Ổn định &lt; 0,4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5303520" y="346557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can thiệp riêng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nhân viên rủi ro cao nhất bắt được 55% người nghỉ việc (ngẫu nhiên chỉ khoảng 20%). Điểm rủi ro chỉ để xếp thứ tự ưu tiên, không dùng để trừng phạt hay sa thải; cần bảo mật dữ liệu cá nhân.</a:t>
            </a:r>
            <a:endParaRPr lang="en-US" sz="125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 và hạn chế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2560320" cy="2468880"/>
          </a:xfrm>
          <a:prstGeom prst="roundRect">
            <a:avLst>
              <a:gd name="adj" fmla="val 5185"/>
            </a:avLst>
          </a:prstGeom>
          <a:solidFill>
            <a:srgbClr val="2B4C73"/>
          </a:solidFill>
          <a:ln w="12700">
            <a:solidFill>
              <a:srgbClr val="2B4C7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BB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19202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thêm giờ, công tác, cổ phiếu và mức hài lòng là các yếu tố trực tiếp tác động rõ nhất. Logistic Regression (ROC-AUC khoảng 0,83) đủ tốt, dễ giải thích; boosting chỉ ngang bằng.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37560" y="1371600"/>
            <a:ext cx="2560320" cy="2468880"/>
          </a:xfrm>
          <a:prstGeom prst="roundRect">
            <a:avLst>
              <a:gd name="adj" fmla="val 5185"/>
            </a:avLst>
          </a:prstGeom>
          <a:solidFill>
            <a:srgbClr val="2B4C73"/>
          </a:solidFill>
          <a:ln w="12700">
            <a:solidFill>
              <a:srgbClr val="2B4C7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02152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BB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 chế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502152" y="19202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mô phỏng, chỉ 237 ca nghỉ, Precision còn thấp; kết quả là liên hệ chứ không phải nhân quả.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35040" y="1371600"/>
            <a:ext cx="2560320" cy="2468880"/>
          </a:xfrm>
          <a:prstGeom prst="roundRect">
            <a:avLst>
              <a:gd name="adj" fmla="val 5185"/>
            </a:avLst>
          </a:prstGeom>
          <a:solidFill>
            <a:srgbClr val="2B4C73"/>
          </a:solidFill>
          <a:ln w="12700">
            <a:solidFill>
              <a:srgbClr val="2B4C7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99632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BB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tiếp theo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199632" y="19202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trên dữ liệu nhân sự thật, chọn ngưỡng theo chi phí mất nhân viên.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D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thầy/cô và các bạn đã lắng nghe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C9A45C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1285</Words>
  <Application>Microsoft Office PowerPoint</Application>
  <PresentationFormat>On-screen Show (16:9)</PresentationFormat>
  <Paragraphs>127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Dự đoán nhân viên nghỉ việc</dc:title>
  <dc:subject>PptxGenJS Presentation</dc:subject>
  <dc:creator>Lê Nhật Trường, Nguyễn Minh Thiện</dc:creator>
  <cp:lastModifiedBy>"Le Nhat Truong	"</cp:lastModifiedBy>
  <cp:revision>2</cp:revision>
  <dcterms:created xsi:type="dcterms:W3CDTF">2026-10-28T07:31:24Z</dcterms:created>
  <dcterms:modified xsi:type="dcterms:W3CDTF">2026-10-28T12:19:02Z</dcterms:modified>
</cp:coreProperties>
</file>