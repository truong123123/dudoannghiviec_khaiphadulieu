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5B6B79"/>
                </a:solidFill>
                <a:latin typeface="Calibri"/>
              </a:rPr>
              <a:t>Tỷ lệ nghỉ việc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Tỷ lệ nghỉ việc (%)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D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Sales Representative</c:v>
                  </c:pt>
                  <c:pt idx="1">
                    <c:v>Làm thêm giờ</c:v>
                  </c:pt>
                  <c:pt idx="2">
                    <c:v>Cấp bậc 1</c:v>
                  </c:pt>
                  <c:pt idx="3">
                    <c:v>Độc thân</c:v>
                  </c:pt>
                  <c:pt idx="4">
                    <c:v>Công tác thường xuyên</c:v>
                  </c:pt>
                  <c:pt idx="5">
                    <c:v>Không có cổ phiếu</c:v>
                  </c:pt>
                  <c:pt idx="6">
                    <c:v>Mức chung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39.8</c:v>
                </c:pt>
                <c:pt idx="1">
                  <c:v>30.5</c:v>
                </c:pt>
                <c:pt idx="2">
                  <c:v>26.3</c:v>
                </c:pt>
                <c:pt idx="3">
                  <c:v>25.5</c:v>
                </c:pt>
                <c:pt idx="4">
                  <c:v>24.9</c:v>
                </c:pt>
                <c:pt idx="5">
                  <c:v>24.4</c:v>
                </c:pt>
                <c:pt idx="6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F2D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D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5B6B79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5B6B79"/>
                </a:solidFill>
                <a:latin typeface="Calibri"/>
              </a:rPr>
              <a:t>ROC-AUC (Nested CV, 5 fold)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ROC-AUC</c:v>
                </c:pt>
              </c:strCache>
            </c:strRef>
          </c:tx>
          <c:spPr>
            <a:solidFill>
              <a:srgbClr val="0F8B8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D3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Logistic Regression</c:v>
                  </c:pt>
                  <c:pt idx="1">
                    <c:v>LightGBM (tuning)</c:v>
                  </c:pt>
                  <c:pt idx="2">
                    <c:v>XGBoost (tuning)</c:v>
                  </c:pt>
                  <c:pt idx="3">
                    <c:v>Random Forest (tuning)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0.826</c:v>
                </c:pt>
                <c:pt idx="1">
                  <c:v>0.823</c:v>
                </c:pt>
                <c:pt idx="2">
                  <c:v>0.821</c:v>
                </c:pt>
                <c:pt idx="3">
                  <c:v>0.806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300" u="none">
                  <a:solidFill>
                    <a:srgbClr val="1F2D3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D3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Chào thầy/cô. Đề tài của nhóm là dự đoán nhân viên nghỉ việc trên bộ dữ liệu IBM HR Analytics.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mạnh dữ liệu mất cân bằng và dữ liệu là mô phỏng.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Làm thêm giờ, vai trò Sales Representative và cấp bậc thấp là các nhóm nổi bật. Đây là liên hệ thống kê, chưa phải nhân quả.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Biến trực tiếp dự đoán tốt hơn hẳn biến gián tiếp. Làm thêm giờ, công tác và mức hài lòng gần như độc lập với tuổi và hôn nhân.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Số liệu là odds ratio đa biến từ hồi quy Logistic.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Chống rò rỉ dữ liệu: chia train/test trước, chuẩn hóa trong Pipeline. Nested CV cho điểm số không bị lạc quan. Decision Tree yếu nhất, AUC khoảng 0,69.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Ngưỡng 0,6 được kiểm tra lại bằng dự đoán out-of-fold trên tập train: Precision 0,46, Recall 0,67. Xác suất bị đẩy cao do dùng class_weight balanced.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thúc, mời thầy/cô đặt câu hỏi.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3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KHAI PHÁ DỮ LIỆU  ·  ĐẠI HỌC THỦY LỢI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 đoán nhân viên nghỉ việc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5603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Yếu tố trực tiếp, gián tiếp và mô hình cảnh báo sớm cho bộ phận nhân sự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F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Lê Nhật Trường – 2351067118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F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Minh Thiện – 2351067116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CFE4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GVHD: Ths Nguyễn Thị Hạnh  ·  Lớp S26-K65CNTT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toán và dữ liệu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182880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898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1.470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57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60320" y="1280160"/>
            <a:ext cx="182880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898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cột thuộc tính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280160"/>
            <a:ext cx="182880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13898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2057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nghỉ việc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0" y="1280160"/>
            <a:ext cx="201168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138988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16,1%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0574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 lệ nghỉ việc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tìm yếu tố liên quan đến nghỉ việc, dự đoán rủi ro và đề xuất cách HR dùng kết quả.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mất cân bằng: luôn đoán “ở lại” đã đúng 84% nhưng không bắt được ai, nên ưu tiên Recall, ROC-AUC, PR-AUC.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mô phỏng của IBM: quy trình dùng lại được, con số cụ thể thì không áp dụng nguyên cho công ty khác.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Nhóm nào nghỉ việc nhiều nhất?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852160" y="1188720"/>
            <a:ext cx="28346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B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định thống kê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12/13 biến phân loại có liên hệ ý nghĩa (Chi-square, Holm); riêng giới tính thì không.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7/14 biến số còn ý nghĩa sau Holm: thâm niên, lương, tuổi, khoảng cách nhà.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nghỉ trẻ hơn, lương trung vị thấp hơn (3.202 so với 5.204).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trực tiếp và gián tiếp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931920" cy="1920240"/>
          </a:xfrm>
          <a:prstGeom prst="roundRect">
            <a:avLst>
              <a:gd name="adj" fmla="val 5714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3258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tiếp (công ty can thiệp được)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thêm giờ, lương, cấp bậc, cổ phiếu, công tác, mức hài lòng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663440" y="1188720"/>
            <a:ext cx="3931920" cy="1920240"/>
          </a:xfrm>
          <a:prstGeom prst="roundRect">
            <a:avLst>
              <a:gd name="adj" fmla="val 5714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46320" y="132588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Gián tiếp (đặc điểm nền)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Tuổi, hôn nhân, kinh nghiệm, số năm gắn bó, khoảng cách nhà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1828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34472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0,701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chỉ gián tiếp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514600" y="3337560"/>
            <a:ext cx="1828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51760" y="34472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0,780</a:t>
            </a:r>
            <a:endParaRPr lang="en-US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65176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chỉ trực tiếp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480560" y="3337560"/>
            <a:ext cx="182880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17720" y="344728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0,806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461772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cả hai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47472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Tuổi tác động qua lương, cấp bậc khoảng 29%.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12/63 cặp gián tiếp – trực tiếp có liên hệ ý nghĩa.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trực tiếp tác động thế nào?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441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 lần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odds nghỉ việc khi làm thêm giờ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291840" y="123444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3441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3,7 lần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khi công tác thường xuyên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35040" y="1234440"/>
            <a:ext cx="256032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72200" y="134416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0,59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20116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mức cổ phiếu tăng thêm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88036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Mức hài lòng công việc (0,72) và môi trường (0,70): mỗi điểm tăng làm giảm odds nghỉ việc khoảng 30%.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Lương và cấp bậc mất ý nghĩa khi đặt chung vì tương quan 0,95; cần đọc như một nhóm.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thêm giờ và công tác là nơi can thiệp rõ hiệu quả nhất. Đây là hồi quy đa biến, chưa chứng minh nhân quả.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mô hình bằng Nested CV</a:t>
            </a:r>
            <a:endParaRPr lang="en-US" sz="32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49377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669280" y="1188720"/>
            <a:ext cx="30175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0B2A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chọn Logistic Regression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Chênh lệch giữa các mô hình dưới 0,02, nhỏ hơn độ lệch giữa các fold (0,03–0,04).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Đơn giản, ổn định, hệ số giải thích được vì sao một người bị gắn cờ.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Tuning chỉ giúp XGBoost, LightGBM tăng khoảng 0,02 để ngang bằng.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dụng cho bộ phận nhân sự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82880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984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2A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cảnh báo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560320" y="1188720"/>
            <a:ext cx="182880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2984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0,46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1965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0" y="1188720"/>
            <a:ext cx="182880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709160" y="12984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8B8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0,57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709160" y="19659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(tập test)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583680" y="1188720"/>
            <a:ext cx="2011680" cy="1234440"/>
          </a:xfrm>
          <a:prstGeom prst="roundRect">
            <a:avLst>
              <a:gd name="adj" fmla="val 8889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20840" y="1298448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457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19659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người nghỉ nằm trong top 20%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269748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457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Cao  ≥ 0,6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2004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Phỏng vấn giữ chân; rà soát lương, cấp bậc; giảm làm thêm giờ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91840" y="269748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42900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F8B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dõi  0,4–0,6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429000" y="32004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Khảo sát mức hài lòng; trao đổi với quản lý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035040" y="2697480"/>
            <a:ext cx="2560320" cy="1325880"/>
          </a:xfrm>
          <a:prstGeom prst="roundRect">
            <a:avLst>
              <a:gd name="adj" fmla="val 8276"/>
            </a:avLst>
          </a:prstGeom>
          <a:solidFill>
            <a:srgbClr val="EAF3F5"/>
          </a:solidFill>
          <a:ln w="12700">
            <a:solidFill>
              <a:srgbClr val="EAF3F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172200" y="27889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Ổn định  &lt; 0,4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32004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cần can thiệp riêng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2062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 rủi ro chỉ để xếp thứ tự ưu tiên, không dùng để trừng phạt hay sa thải; cần bảo mật dữ liệu cá nhân.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và hạn chế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78638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thêm giờ, công tác, cổ phiếu và mức hài lòng là các yếu tố trực tiếp tác động rõ nhất.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(ROC-AUC khoảng 0,83) đủ tốt, dễ giải thích; boosting chỉ ngang bằng.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chế: dữ liệu mô phỏng, chỉ 237 ca nghỉ, Precision còn thấp, kết quả là liên hệ chứ không phải nhân quả.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tiếp theo: thử trên dữ liệu nhân sự thật, chọn ngưỡng theo chi phí mất nhân viên.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FD3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Cảm ơn thầy/cô và các bạn đã lắng nghe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Dự đoán nhân viên nghỉ việc</dc:title>
  <dc:subject>PptxGenJS Presentation</dc:subject>
  <dc:creator>Lê Nhật Trường, Nguyễn Minh Thiện</dc:creator>
  <cp:lastModifiedBy>Lê Nhật Trường, Nguyễn Minh Thiện</cp:lastModifiedBy>
  <cp:revision>1</cp:revision>
  <dcterms:created xsi:type="dcterms:W3CDTF">2026-10-27T12:41:00Z</dcterms:created>
  <dcterms:modified xsi:type="dcterms:W3CDTF">2026-10-27T12:41:00Z</dcterms:modified>
</cp:coreProperties>
</file>